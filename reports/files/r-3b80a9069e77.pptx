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FE12D2-9120-4CBD-850B-3342199932C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5D86F6-B1E6-493D-B085-D32F832C4E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D354A2-7F9B-4738-B856-7694888CB96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15E542-5F7D-4F16-BA13-CFE1E0B213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1D07A-40DD-4573-A529-ACBE2C53C03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005118-CC70-4E53-A755-F921275D786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AFA58C-3CCD-4941-A247-99949A36A4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031082-EEE3-4E6E-A5EE-D0626FC67FD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D95044-5F1C-41A6-9DB7-DAAB5ABC4CB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EE4CAC-A2AA-4AC0-8C71-D0B12D5183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52F4BF-A117-48FD-A4BE-4A656E41DF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9CE59E-3CF6-49F8-A1D2-8928D0A255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E14610-5AC8-4A77-875B-5C3056E9F57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02F5C4-3CE4-4D6C-8B0E-129685AE888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ww.nasa.gov/reference/system-engineering-handbook-appendix/" TargetMode="External"/><Relationship Id="rId2" Type="http://schemas.openxmlformats.org/officeDocument/2006/relationships/hyperlink" Target="https://www.iso.org/standard/81702.html" TargetMode="External"/><Relationship Id="rId3" Type="http://schemas.openxmlformats.org/officeDocument/2006/relationships/hyperlink" Target="https://tractian.com/en/glossary/bill-of-materials-b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anipulation.csail.mit.edu/Fall2025/" TargetMode="External"/><Relationship Id="rId2" Type="http://schemas.openxmlformats.org/officeDocument/2006/relationships/hyperlink" Target="https://see.stanford.edu/Course/CS223A" TargetMode="External"/><Relationship Id="rId3" Type="http://schemas.openxmlformats.org/officeDocument/2006/relationships/hyperlink" Target="https://people.csail.mit.edu/brooks/papers/IEEE-cog.pdf" TargetMode="External"/><Relationship Id="rId4" Type="http://schemas.openxmlformats.org/officeDocument/2006/relationships/hyperlink" Target="https://sites.utexas.edu/hcrl/files/2016/01/jfr-nasa-hcrl-final.pd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nasa.gov/reference/system-engineering-handbook-appendix/" TargetMode="External"/><Relationship Id="rId2" Type="http://schemas.openxmlformats.org/officeDocument/2006/relationships/hyperlink" Target="https://www.iso.org/standard/81702.html" TargetMode="External"/><Relationship Id="rId3" Type="http://schemas.openxmlformats.org/officeDocument/2006/relationships/hyperlink" Target="https://manipulation.csail.mit.edu/Fall2025/" TargetMode="External"/><Relationship Id="rId4" Type="http://schemas.openxmlformats.org/officeDocument/2006/relationships/hyperlink" Target="https://see.stanford.edu/Course/CS223A" TargetMode="External"/><Relationship Id="rId5" Type="http://schemas.openxmlformats.org/officeDocument/2006/relationships/hyperlink" Target="https://people.csail.mit.edu/brooks/papers/IEEE-cog.pdf" TargetMode="External"/><Relationship Id="rId6" Type="http://schemas.openxmlformats.org/officeDocument/2006/relationships/hyperlink" Target="https://sites.utexas.edu/hcrl/files/2016/01/jfr-nasa-hcrl-final.pdf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manipulation.csail.mit.edu/Fall2025/" TargetMode="External"/><Relationship Id="rId2" Type="http://schemas.openxmlformats.org/officeDocument/2006/relationships/hyperlink" Target="https://see.stanford.edu/Course/CS223A" TargetMode="External"/><Relationship Id="rId3" Type="http://schemas.openxmlformats.org/officeDocument/2006/relationships/hyperlink" Target="https://exec.cs.cmu.edu/custom/introduction_robot_autonomy" TargetMode="External"/><Relationship Id="rId4" Type="http://schemas.openxmlformats.org/officeDocument/2006/relationships/hyperlink" Target="https://people.csail.mit.edu/brooks/papers/CMAA-group.pdf" TargetMode="External"/><Relationship Id="rId5" Type="http://schemas.openxmlformats.org/officeDocument/2006/relationships/hyperlink" Target="https://sites.utexas.edu/hcrl/files/2016/01/jfr-nasa-hcrl-final.pdf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www.nasa.gov/reference/system-engineering-handbook-appendix/" TargetMode="External"/><Relationship Id="rId2" Type="http://schemas.openxmlformats.org/officeDocument/2006/relationships/hyperlink" Target="https://www.iso.org/standard/81702.html" TargetMode="External"/><Relationship Id="rId3" Type="http://schemas.openxmlformats.org/officeDocument/2006/relationships/hyperlink" Target="https://standards.ieee.org/ieee/1872/5354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ww.tesla.com/AI" TargetMode="External"/><Relationship Id="rId2" Type="http://schemas.openxmlformats.org/officeDocument/2006/relationships/hyperlink" Target="https://www.figure.ai/news/introducing-figure-03" TargetMode="External"/><Relationship Id="rId3" Type="http://schemas.openxmlformats.org/officeDocument/2006/relationships/hyperlink" Target="https://bostondynamics.com/wp-content/uploads/2026/01/atlas-spec-sheet.pdf" TargetMode="External"/><Relationship Id="rId4" Type="http://schemas.openxmlformats.org/officeDocument/2006/relationships/hyperlink" Target="https://www.unitree.com/g1/" TargetMode="External"/><Relationship Id="rId5" Type="http://schemas.openxmlformats.org/officeDocument/2006/relationships/hyperlink" Target="https://www.xiaopeng.com/airobot.html" TargetMode="External"/><Relationship Id="rId6" Type="http://schemas.openxmlformats.org/officeDocument/2006/relationships/hyperlink" Target="https://x-humanoid.com/news-view-33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www.nasa.gov/reference/system-engineering-handbook-appendix/" TargetMode="External"/><Relationship Id="rId2" Type="http://schemas.openxmlformats.org/officeDocument/2006/relationships/hyperlink" Target="https://www.iso.org/standard/81702.html" TargetMode="External"/><Relationship Id="rId3" Type="http://schemas.openxmlformats.org/officeDocument/2006/relationships/hyperlink" Target="https://standards.ieee.org/ieee/1872/5354/" TargetMode="External"/><Relationship Id="rId4" Type="http://schemas.openxmlformats.org/officeDocument/2006/relationships/hyperlink" Target="https://manipulation.csail.mit.edu/Fall2025/" TargetMode="External"/><Relationship Id="rId5" Type="http://schemas.openxmlformats.org/officeDocument/2006/relationships/hyperlink" Target="https://see.stanford.edu/Course/CS223A" TargetMode="External"/><Relationship Id="rId6" Type="http://schemas.openxmlformats.org/officeDocument/2006/relationships/hyperlink" Target="https://people.csail.mit.edu/brooks/papers/IEEE-cog.pdf" TargetMode="External"/><Relationship Id="rId7" Type="http://schemas.openxmlformats.org/officeDocument/2006/relationships/hyperlink" Target="https://sites.utexas.edu/hcrl/files/2016/01/jfr-nasa-hcrl-final.pdf" TargetMode="External"/><Relationship Id="rId8" Type="http://schemas.openxmlformats.org/officeDocument/2006/relationships/hyperlink" Target="https://www.tesla.com/AI" TargetMode="External"/><Relationship Id="rId9" Type="http://schemas.openxmlformats.org/officeDocument/2006/relationships/hyperlink" Target="https://www.figure.ai/news/introducing-figure-03" TargetMode="External"/><Relationship Id="rId10" Type="http://schemas.openxmlformats.org/officeDocument/2006/relationships/hyperlink" Target="https://bostondynamics.com/wp-content/uploads/2026/01/atlas-spec-sheet.pdf" TargetMode="External"/><Relationship Id="rId11" Type="http://schemas.openxmlformats.org/officeDocument/2006/relationships/hyperlink" Target="https://x-humanoid.com/news-view-33.html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6711840"/>
            <a:ext cx="12191400" cy="145800"/>
          </a:xfrm>
          <a:prstGeom prst="rect">
            <a:avLst/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870520" y="1828800"/>
            <a:ext cx="456840" cy="456840"/>
          </a:xfrm>
          <a:prstGeom prst="ellipse">
            <a:avLst/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733360" y="2331720"/>
            <a:ext cx="731160" cy="1096920"/>
          </a:xfrm>
          <a:prstGeom prst="roundRect">
            <a:avLst>
              <a:gd name="adj" fmla="val 6250"/>
            </a:avLst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 flipH="1">
            <a:off x="5184360" y="2468880"/>
            <a:ext cx="548640" cy="8229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464520" y="2468880"/>
            <a:ext cx="548640" cy="8229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 flipH="1">
            <a:off x="5733000" y="3429000"/>
            <a:ext cx="164880" cy="100584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291000" y="3429000"/>
            <a:ext cx="164520" cy="100584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466344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人形机器人 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CT-BOM </a:t>
            </a:r>
            <a:r>
              <a:rPr b="1" lang="zh-CN" sz="3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框架  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v0.5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5349240"/>
            <a:ext cx="11246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从系统 </a:t>
            </a:r>
            <a:r>
              <a:rPr b="0" lang="en-US" sz="18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CT </a:t>
            </a:r>
            <a:r>
              <a:rPr b="0" lang="zh-CN" sz="18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到可落地 </a:t>
            </a:r>
            <a:r>
              <a:rPr b="0" lang="en-US" sz="18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BOM </a:t>
            </a:r>
            <a:r>
              <a:rPr b="0" lang="zh-CN" sz="18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的工程化研究框架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5852160"/>
            <a:ext cx="11246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7b95b5"/>
                </a:solidFill>
                <a:effectLst/>
                <a:uFillTx/>
                <a:latin typeface="Calibri"/>
                <a:ea typeface="Calibri"/>
              </a:rPr>
              <a:t>基于系统工程  </a:t>
            </a:r>
            <a:r>
              <a:rPr b="0" lang="en-US" sz="1200" strike="noStrike" u="none">
                <a:solidFill>
                  <a:srgbClr val="7b95b5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200" strike="noStrike" u="none">
                <a:solidFill>
                  <a:srgbClr val="7b95b5"/>
                </a:solidFill>
                <a:effectLst/>
                <a:uFillTx/>
                <a:latin typeface="Calibri"/>
                <a:ea typeface="Calibri"/>
              </a:rPr>
              <a:t>多级 </a:t>
            </a:r>
            <a:r>
              <a:rPr b="0" lang="en-US" sz="1200" strike="noStrike" u="none">
                <a:solidFill>
                  <a:srgbClr val="7b95b5"/>
                </a:solidFill>
                <a:effectLst/>
                <a:uFillTx/>
                <a:latin typeface="Calibri"/>
                <a:ea typeface="Calibri"/>
              </a:rPr>
              <a:t>BOM  ·  </a:t>
            </a:r>
            <a:r>
              <a:rPr b="0" lang="zh-CN" sz="1200" strike="noStrike" u="none">
                <a:solidFill>
                  <a:srgbClr val="7b95b5"/>
                </a:solidFill>
                <a:effectLst/>
                <a:uFillTx/>
                <a:latin typeface="Calibri"/>
                <a:ea typeface="Calibri"/>
              </a:rPr>
              <a:t>经典机器人学主线  </a:t>
            </a:r>
            <a:r>
              <a:rPr b="0" lang="en-US" sz="1200" strike="noStrike" u="none">
                <a:solidFill>
                  <a:srgbClr val="7b95b5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200" strike="noStrike" u="none">
                <a:solidFill>
                  <a:srgbClr val="7b95b5"/>
                </a:solidFill>
                <a:effectLst/>
                <a:uFillTx/>
                <a:latin typeface="Calibri"/>
                <a:ea typeface="Calibri"/>
              </a:rPr>
              <a:t>人形机器人工程实践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目录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371600" y="160020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2468880" y="1600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为什么需要 </a:t>
            </a: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框架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1371600" y="2313360"/>
            <a:ext cx="9326880" cy="360"/>
          </a:xfrm>
          <a:prstGeom prst="line">
            <a:avLst/>
          </a:prstGeom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371600" y="23774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2468880" y="2377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L0–L5 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与六大 </a:t>
            </a: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L1 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方法论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1371600" y="3090600"/>
            <a:ext cx="9326880" cy="360"/>
          </a:xfrm>
          <a:prstGeom prst="line">
            <a:avLst/>
          </a:prstGeom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1371600" y="315468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2468880" y="31546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整机 </a:t>
            </a: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CT 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主图（到 </a:t>
            </a: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L2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）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1371600" y="3867840"/>
            <a:ext cx="9326880" cy="360"/>
          </a:xfrm>
          <a:prstGeom prst="line">
            <a:avLst/>
          </a:prstGeom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1371600" y="393192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2468880" y="39319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L2 → L5 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示例：旋转关节 </a:t>
            </a: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灵巧手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1371600" y="4645080"/>
            <a:ext cx="9326880" cy="360"/>
          </a:xfrm>
          <a:prstGeom prst="line">
            <a:avLst/>
          </a:prstGeom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1371600" y="470916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05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2468880" y="47091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六大 </a:t>
            </a:r>
            <a:r>
              <a:rPr b="0" lang="en-US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L1 × OEM </a:t>
            </a: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映射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1371600" y="5422320"/>
            <a:ext cx="9326880" cy="360"/>
          </a:xfrm>
          <a:prstGeom prst="line">
            <a:avLst/>
          </a:prstGeom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1371600" y="548640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06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2468880" y="54864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后续应用：技术路线与供应链机会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1371600" y="6199560"/>
            <a:ext cx="9326880" cy="360"/>
          </a:xfrm>
          <a:prstGeom prst="line">
            <a:avLst/>
          </a:prstGeom>
          <a:ln w="9525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2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为什么从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L0–L5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看人形机器人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工程化研究框架的层级方法 — 源自多级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BOM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与系统工程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" name="Table 0"/>
          <p:cNvGraphicFramePr/>
          <p:nvPr/>
        </p:nvGraphicFramePr>
        <p:xfrm>
          <a:off x="457200" y="1325880"/>
          <a:ext cx="11246760" cy="352044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4846320"/>
                <a:gridCol w="32004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层级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工程含义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示例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CT </a:t>
                      </a: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语义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整机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系统顶层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人形机器人整机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完整产品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系统之系统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根分类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一级子系统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感知、决策控制、执行、本体、能源、系统集成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CT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一级器官系统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功能模块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客户展示层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旋转关节、灵巧手、电池包、机器人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客户能一眼看懂的功能器官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关键部件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可集成模块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高扭矩关节、手指执行模组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工程设计对象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零部件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配置项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无框力矩电机、减速器、编码器、驱动器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工程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采购对象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最小子部件 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SKU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种子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定子、转子、磁钢、</a:t>
                      </a: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MOSFET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、模型权重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BOM </a:t>
                      </a:r>
                      <a:r>
                        <a:rPr b="0" lang="zh-CN" sz="11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证据层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 2"/>
          <p:cNvSpPr/>
          <p:nvPr/>
        </p:nvSpPr>
        <p:spPr>
          <a:xfrm>
            <a:off x="457200" y="5212080"/>
            <a:ext cx="11246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zh-CN" sz="13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主图展示 </a:t>
            </a:r>
            <a:r>
              <a:rPr b="1" i="1" lang="en-US" sz="13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L0 → L1 → L2</a:t>
            </a:r>
            <a:r>
              <a:rPr b="1" i="1" lang="zh-CN" sz="13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；</a:t>
            </a:r>
            <a:r>
              <a:rPr b="1" i="1" lang="en-US" sz="13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L3–L5 </a:t>
            </a:r>
            <a:r>
              <a:rPr b="1" i="1" lang="zh-CN" sz="13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作为工程化研究框架的证据层 </a:t>
            </a:r>
            <a:r>
              <a:rPr b="1" i="1" lang="en-US" sz="13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/ BOM </a:t>
            </a:r>
            <a:r>
              <a:rPr b="1" i="1" lang="zh-CN" sz="13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层。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来源：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1"/>
              </a:rPr>
              <a:t>NASA SE Handbook PBS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2"/>
              </a:rPr>
              <a:t>ISO/IEC/IEEE 15288:2023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3"/>
              </a:rPr>
              <a:t>Tractian BOM 多级定义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3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六大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L1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：机器人学主线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+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工程实践层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来源属性决定为什么必须单列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457200" y="1280160"/>
            <a:ext cx="11246760" cy="868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080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40080" y="132588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感知 – 决策控制 – 执行 </a:t>
            </a:r>
            <a:r>
              <a:rPr b="0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是机器人学教科书里的经典闭环；</a:t>
            </a:r>
            <a:r>
              <a:rPr b="1" lang="zh-CN" sz="140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本体 – 能源 – 系统集成与安全 </a:t>
            </a:r>
            <a:r>
              <a:rPr b="0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是把具身智能做成人形机器人实体产品时必须单独管理的工程层。两部分合起来构成六大 </a:t>
            </a:r>
            <a:r>
              <a:rPr b="0" lang="en-US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L1</a:t>
            </a:r>
            <a:r>
              <a:rPr b="0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。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457200" y="2331720"/>
            <a:ext cx="2468520" cy="1737000"/>
          </a:xfrm>
          <a:prstGeom prst="roundRect">
            <a:avLst>
              <a:gd name="adj" fmla="val 4211"/>
            </a:avLst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502920" y="274320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机器人学主线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3017520" y="2331720"/>
            <a:ext cx="8686440" cy="1737000"/>
          </a:xfrm>
          <a:prstGeom prst="roundRect">
            <a:avLst>
              <a:gd name="adj" fmla="val 4211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3200400" y="246888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PER  </a:t>
            </a:r>
            <a:r>
              <a:rPr b="1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感知系统    </a:t>
            </a:r>
            <a:r>
              <a:rPr b="1" lang="en-US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  DEC  </a:t>
            </a:r>
            <a:r>
              <a:rPr b="1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决策控制系统    </a:t>
            </a:r>
            <a:r>
              <a:rPr b="1" lang="en-US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  ACT  </a:t>
            </a:r>
            <a:r>
              <a:rPr b="1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执行系统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3200400" y="292608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权威依据：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MIT 6.4210 Robotic Manipulation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Stanford CS223A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CMU Robot Autonomy 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等课程主干；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MIT Cog 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相关论文。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3200400" y="3520440"/>
            <a:ext cx="832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客户话术：机器人先感知，再规划 </a:t>
            </a:r>
            <a:r>
              <a:rPr b="0" i="1" lang="en-US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i="1" lang="zh-CN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控制，最后通过关节和手脚行动。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457200" y="4160520"/>
            <a:ext cx="2468520" cy="1737000"/>
          </a:xfrm>
          <a:prstGeom prst="roundRect">
            <a:avLst>
              <a:gd name="adj" fmla="val 4211"/>
            </a:avLst>
          </a:prstGeom>
          <a:solidFill>
            <a:srgbClr val="a84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502920" y="457200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人形机器人工程实践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3017520" y="4160520"/>
            <a:ext cx="8686440" cy="1737000"/>
          </a:xfrm>
          <a:prstGeom prst="roundRect">
            <a:avLst>
              <a:gd name="adj" fmla="val 4211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3200400" y="429768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BOD  </a:t>
            </a:r>
            <a:r>
              <a:rPr b="1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本体系统    </a:t>
            </a:r>
            <a:r>
              <a:rPr b="1" lang="en-US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  PWR  </a:t>
            </a:r>
            <a:r>
              <a:rPr b="1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能源系统    </a:t>
            </a:r>
            <a:r>
              <a:rPr b="1" lang="en-US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  SYS  </a:t>
            </a:r>
            <a:r>
              <a:rPr b="1" lang="zh-CN" sz="14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系统集成与安全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3200400" y="475488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权威依据：系统工程 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PBS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（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NASA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ISO 15288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）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+ NASA Valkyrie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MIT Cog Project </a:t>
            </a:r>
            <a:r>
              <a:rPr b="0" lang="zh-CN" sz="11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等人形机器人工程论文。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3200400" y="5349240"/>
            <a:ext cx="832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客户话术：要把具身智能做成人形机器人，必须单列身体、能源和系统集成。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来源：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1"/>
              </a:rPr>
              <a:t>MIT 6.4210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2"/>
              </a:rPr>
              <a:t>Stanford CS223A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3"/>
              </a:rPr>
              <a:t>MIT Cog Paper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4"/>
              </a:rPr>
              <a:t>NASA Valkyrie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4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L1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从哪里来：标准、课程、工程与本土语境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四条推导环节合成六大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Table 0"/>
          <p:cNvGraphicFramePr/>
          <p:nvPr/>
        </p:nvGraphicFramePr>
        <p:xfrm>
          <a:off x="457200" y="1371600"/>
          <a:ext cx="11246760" cy="48006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3108960"/>
                <a:gridCol w="1828800"/>
              </a:tblGrid>
              <a:tr h="9601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推导环节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权威 </a:t>
                      </a: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公开依据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得到的分类启发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落到我们的 </a:t>
                      </a: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系统工程与多级 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BOM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NASA PBS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、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ISO/IEC/IEEE 15288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、多级 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BOM Level 0/1/2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复杂产品需要从整机向系统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子系统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组件递归分解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20808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L0–L5 </a:t>
                      </a:r>
                      <a:r>
                        <a:rPr b="1" lang="zh-CN" sz="1050" strike="noStrike" u="none">
                          <a:solidFill>
                            <a:srgbClr val="20808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层级方法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经典机器人学主线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MIT / Stanford / CMU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课程；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MIT Cog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论文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机器人闭环核心：感知 → 规划 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控制 → 行动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20808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  ·  DEC  ·  ACT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人形机器人工程实践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人形机器人论文（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Cog Project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、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Valkyrie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）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OEM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公开模块（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mechanical / battery / safety / MES / fleet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）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人形机器人不是纯算法，需要身体、能源和系统集成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20808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BOD  ·  PWR  ·  SYS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中文具身智能语境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大脑 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小脑 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肢体；感知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决策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行动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反馈闭环；上游零部件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中游本体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便于与中国客户、产业链和政策研究对齐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trike="noStrike" u="none">
                          <a:solidFill>
                            <a:srgbClr val="20808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六大 </a:t>
                      </a:r>
                      <a:r>
                        <a:rPr b="1" lang="en-US" sz="1050" strike="noStrike" u="none">
                          <a:solidFill>
                            <a:srgbClr val="20808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L1 + L3–L5 </a:t>
                      </a:r>
                      <a:r>
                        <a:rPr b="1" lang="zh-CN" sz="1050" strike="noStrike" u="none">
                          <a:solidFill>
                            <a:srgbClr val="20808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证据层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Text 2"/>
          <p:cNvSpPr/>
          <p:nvPr/>
        </p:nvSpPr>
        <p:spPr>
          <a:xfrm>
            <a:off x="457200" y="580644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i="1" lang="zh-CN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公开模块用于交叉验证，而不是声称任何 </a:t>
            </a:r>
            <a:r>
              <a:rPr b="0" i="1" lang="en-US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i="1" lang="zh-CN" sz="11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官方采用本分层。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来源：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1"/>
              </a:rPr>
              <a:t>NASA PBS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2"/>
              </a:rPr>
              <a:t>ISO 15288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3"/>
              </a:rPr>
              <a:t>MIT 6.4210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4"/>
              </a:rPr>
              <a:t>Stanford CS223A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5"/>
              </a:rPr>
              <a:t>MIT Cog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6"/>
              </a:rPr>
              <a:t>NASA Valkyrie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5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六大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L1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：定义与必须单列的原因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机器人学主线（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PER/DEC/ACT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）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工程实践层（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BOD/PWR/SYS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0"/>
          <p:cNvGraphicFramePr/>
          <p:nvPr/>
        </p:nvGraphicFramePr>
        <p:xfrm>
          <a:off x="457200" y="1371600"/>
          <a:ext cx="11246760" cy="416052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1737360"/>
                <a:gridCol w="3931920"/>
                <a:gridCol w="3474720"/>
              </a:tblGrid>
              <a:tr h="594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名称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来源属性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一句话定义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必须单列的原因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感知系统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机器人学主线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把外部环境和机器人自身状态转成可计算的状态量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机器人学 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Perception/Sensing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主线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474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决策控制系统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机器人学主线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把目标、语义、状态和约束转成任务、轨迹、控制量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Planning / Control / Learning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主线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a84b2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执行系统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机器人学主线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把控制指令转成机械运动、力矩和操作能力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 / Manipulation / Locomotion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主线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BOD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6e52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本体系统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人形机器人工程实践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承载机构、材料、自由度、线束、散热和可维护性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实体产品必须单列的物理身体层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PWR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d199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能源系统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人形机器人工程实践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能量、配电、充换电、能量安全和热管理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实体机器人必须单独管理的动力 </a:t>
                      </a:r>
                      <a:r>
                        <a:rPr b="0" lang="en-US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安全层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9444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系统集成与安全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人形机器人工程实践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把硬件、软件、数据、通信、标定、测试、制造和安全合成可部署产品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系统工程必要层，负责集成、验证、运行、安全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Text 2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来源：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1"/>
              </a:rPr>
              <a:t>MIT 6.4210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2"/>
              </a:rPr>
              <a:t>Stanford CS223A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3"/>
              </a:rPr>
              <a:t>CMU Robot Autonomy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4"/>
              </a:rPr>
              <a:t>MIT Cog Project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5"/>
              </a:rPr>
              <a:t>NASA Valkyrie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6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整机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CT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：六大系统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× 36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个功能模块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本页为客户主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 —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展示到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365760" y="1280160"/>
            <a:ext cx="3821760" cy="22399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365760" y="1280160"/>
            <a:ext cx="3821760" cy="502560"/>
          </a:xfrm>
          <a:prstGeom prst="rect">
            <a:avLst/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502920" y="132588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PER  </a:t>
            </a: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感知系统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502920" y="1572840"/>
            <a:ext cx="354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机器人眼耳皮肤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57200" y="184716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PER-VIS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视觉感知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Vision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2277000" y="184716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PER-DEP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深度与三维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Depth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457200" y="239580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PER-FOR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力觉与触觉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Force-Tactile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2277000" y="239580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PER-PRO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本体内感知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Proprioception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457200" y="29444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PER-AUD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听觉与语音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Audio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2277000" y="29444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PER-SAFE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安全感知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Safety Sensing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4297680" y="1280160"/>
            <a:ext cx="3821760" cy="22399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4297680" y="1280160"/>
            <a:ext cx="3821760" cy="502560"/>
          </a:xfrm>
          <a:prstGeom prst="rect">
            <a:avLst/>
          </a:prstGeom>
          <a:solidFill>
            <a:srgbClr val="1b47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4434840" y="132588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DEC  </a:t>
            </a: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决策控制系统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4434840" y="1572840"/>
            <a:ext cx="354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大脑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小脑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4389120" y="184716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474d"/>
                </a:solidFill>
                <a:effectLst/>
                <a:uFillTx/>
                <a:latin typeface="Calibri"/>
                <a:ea typeface="Calibri"/>
              </a:rPr>
              <a:t>DEC-CMP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计算硬件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Edge Compute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6208920" y="184716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474d"/>
                </a:solidFill>
                <a:effectLst/>
                <a:uFillTx/>
                <a:latin typeface="Calibri"/>
                <a:ea typeface="Calibri"/>
              </a:rPr>
              <a:t>DEC-VLA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具身大脑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VLA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8"/>
          <p:cNvSpPr/>
          <p:nvPr/>
        </p:nvSpPr>
        <p:spPr>
          <a:xfrm>
            <a:off x="4389120" y="239580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474d"/>
                </a:solidFill>
                <a:effectLst/>
                <a:uFillTx/>
                <a:latin typeface="Calibri"/>
                <a:ea typeface="Calibri"/>
              </a:rPr>
              <a:t>DEC-TPL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任务编排器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Skill Planner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6208920" y="239580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474d"/>
                </a:solidFill>
                <a:effectLst/>
                <a:uFillTx/>
                <a:latin typeface="Calibri"/>
                <a:ea typeface="Calibri"/>
              </a:rPr>
              <a:t>DEC-MPL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运动规划器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Motion Planner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0"/>
          <p:cNvSpPr/>
          <p:nvPr/>
        </p:nvSpPr>
        <p:spPr>
          <a:xfrm>
            <a:off x="4389120" y="29444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474d"/>
                </a:solidFill>
                <a:effectLst/>
                <a:uFillTx/>
                <a:latin typeface="Calibri"/>
                <a:ea typeface="Calibri"/>
              </a:rPr>
              <a:t>DEC-RTC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机器人小脑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Real-time Control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6208920" y="29444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474d"/>
                </a:solidFill>
                <a:effectLst/>
                <a:uFillTx/>
                <a:latin typeface="Calibri"/>
                <a:ea typeface="Calibri"/>
              </a:rPr>
              <a:t>DEC-SIM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仿真训练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Data Loop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2"/>
          <p:cNvSpPr/>
          <p:nvPr/>
        </p:nvSpPr>
        <p:spPr>
          <a:xfrm>
            <a:off x="8229600" y="1280160"/>
            <a:ext cx="3821760" cy="22399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3"/>
          <p:cNvSpPr/>
          <p:nvPr/>
        </p:nvSpPr>
        <p:spPr>
          <a:xfrm>
            <a:off x="8229600" y="1280160"/>
            <a:ext cx="3821760" cy="502560"/>
          </a:xfrm>
          <a:prstGeom prst="rect">
            <a:avLst/>
          </a:prstGeom>
          <a:solidFill>
            <a:srgbClr val="a84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4"/>
          <p:cNvSpPr/>
          <p:nvPr/>
        </p:nvSpPr>
        <p:spPr>
          <a:xfrm>
            <a:off x="8366760" y="132588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ACT  </a:t>
            </a: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执行系统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8366760" y="1572840"/>
            <a:ext cx="354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肌肉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关节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手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8321040" y="184716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ACT-ROT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旋转关节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Rotary Joint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7"/>
          <p:cNvSpPr/>
          <p:nvPr/>
        </p:nvSpPr>
        <p:spPr>
          <a:xfrm>
            <a:off x="10140840" y="184716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ACT-LIN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线性执行器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Linear Actuator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8"/>
          <p:cNvSpPr/>
          <p:nvPr/>
        </p:nvSpPr>
        <p:spPr>
          <a:xfrm>
            <a:off x="8321040" y="239580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ACT-HAND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灵巧手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Dexterous Hand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9"/>
          <p:cNvSpPr/>
          <p:nvPr/>
        </p:nvSpPr>
        <p:spPr>
          <a:xfrm>
            <a:off x="10140840" y="239580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ACT-FOOT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足踝执行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Foot-Ankle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0"/>
          <p:cNvSpPr/>
          <p:nvPr/>
        </p:nvSpPr>
        <p:spPr>
          <a:xfrm>
            <a:off x="8321040" y="29444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ACT-DRV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电机驱动器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Power Driver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1"/>
          <p:cNvSpPr/>
          <p:nvPr/>
        </p:nvSpPr>
        <p:spPr>
          <a:xfrm>
            <a:off x="10140840" y="29444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ACT-BRK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机械保险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Brake &amp; Limit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2"/>
          <p:cNvSpPr/>
          <p:nvPr/>
        </p:nvSpPr>
        <p:spPr>
          <a:xfrm>
            <a:off x="365760" y="3630240"/>
            <a:ext cx="3821760" cy="22399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3"/>
          <p:cNvSpPr/>
          <p:nvPr/>
        </p:nvSpPr>
        <p:spPr>
          <a:xfrm>
            <a:off x="365760" y="3630240"/>
            <a:ext cx="3821760" cy="502560"/>
          </a:xfrm>
          <a:prstGeom prst="rect">
            <a:avLst/>
          </a:prstGeom>
          <a:solidFill>
            <a:srgbClr val="6e52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4"/>
          <p:cNvSpPr/>
          <p:nvPr/>
        </p:nvSpPr>
        <p:spPr>
          <a:xfrm>
            <a:off x="502920" y="367596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BOD  </a:t>
            </a: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本体系统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5"/>
          <p:cNvSpPr/>
          <p:nvPr/>
        </p:nvSpPr>
        <p:spPr>
          <a:xfrm>
            <a:off x="502920" y="3922920"/>
            <a:ext cx="354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骨骼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外形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结构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6"/>
          <p:cNvSpPr/>
          <p:nvPr/>
        </p:nvSpPr>
        <p:spPr>
          <a:xfrm>
            <a:off x="457200" y="41972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e522b"/>
                </a:solidFill>
                <a:effectLst/>
                <a:uFillTx/>
                <a:latin typeface="Calibri"/>
                <a:ea typeface="Calibri"/>
              </a:rPr>
              <a:t>BOD-SKL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骨架承力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Skeleton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7"/>
          <p:cNvSpPr/>
          <p:nvPr/>
        </p:nvSpPr>
        <p:spPr>
          <a:xfrm>
            <a:off x="2277000" y="41972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e522b"/>
                </a:solidFill>
                <a:effectLst/>
                <a:uFillTx/>
                <a:latin typeface="Calibri"/>
                <a:ea typeface="Calibri"/>
              </a:rPr>
              <a:t>BOD-MAT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材料外覆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Materials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8"/>
          <p:cNvSpPr/>
          <p:nvPr/>
        </p:nvSpPr>
        <p:spPr>
          <a:xfrm>
            <a:off x="457200" y="474588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e522b"/>
                </a:solidFill>
                <a:effectLst/>
                <a:uFillTx/>
                <a:latin typeface="Calibri"/>
                <a:ea typeface="Calibri"/>
              </a:rPr>
              <a:t>BOD-KIN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关节拓扑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Kinematics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9"/>
          <p:cNvSpPr/>
          <p:nvPr/>
        </p:nvSpPr>
        <p:spPr>
          <a:xfrm>
            <a:off x="2277000" y="474588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e522b"/>
                </a:solidFill>
                <a:effectLst/>
                <a:uFillTx/>
                <a:latin typeface="Calibri"/>
                <a:ea typeface="Calibri"/>
              </a:rPr>
              <a:t>BOD-HAR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线束神经束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Harness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0"/>
          <p:cNvSpPr/>
          <p:nvPr/>
        </p:nvSpPr>
        <p:spPr>
          <a:xfrm>
            <a:off x="457200" y="52945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e522b"/>
                </a:solidFill>
                <a:effectLst/>
                <a:uFillTx/>
                <a:latin typeface="Calibri"/>
                <a:ea typeface="Calibri"/>
              </a:rPr>
              <a:t>BOD-THM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体温管理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Thermal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1"/>
          <p:cNvSpPr/>
          <p:nvPr/>
        </p:nvSpPr>
        <p:spPr>
          <a:xfrm>
            <a:off x="2277000" y="52945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6e522b"/>
                </a:solidFill>
                <a:effectLst/>
                <a:uFillTx/>
                <a:latin typeface="Calibri"/>
                <a:ea typeface="Calibri"/>
              </a:rPr>
              <a:t>BOD-SRV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可维护身体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Serviceability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2"/>
          <p:cNvSpPr/>
          <p:nvPr/>
        </p:nvSpPr>
        <p:spPr>
          <a:xfrm>
            <a:off x="4297680" y="3630240"/>
            <a:ext cx="3821760" cy="22399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3"/>
          <p:cNvSpPr/>
          <p:nvPr/>
        </p:nvSpPr>
        <p:spPr>
          <a:xfrm>
            <a:off x="4297680" y="3630240"/>
            <a:ext cx="3821760" cy="502560"/>
          </a:xfrm>
          <a:prstGeom prst="rect">
            <a:avLst/>
          </a:prstGeom>
          <a:solidFill>
            <a:srgbClr val="d1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4"/>
          <p:cNvSpPr/>
          <p:nvPr/>
        </p:nvSpPr>
        <p:spPr>
          <a:xfrm>
            <a:off x="4434840" y="367596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PWR  </a:t>
            </a: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能源系统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5"/>
          <p:cNvSpPr/>
          <p:nvPr/>
        </p:nvSpPr>
        <p:spPr>
          <a:xfrm>
            <a:off x="4434840" y="3922920"/>
            <a:ext cx="354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心脏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血液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代谢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6"/>
          <p:cNvSpPr/>
          <p:nvPr/>
        </p:nvSpPr>
        <p:spPr>
          <a:xfrm>
            <a:off x="4389120" y="41972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d19900"/>
                </a:solidFill>
                <a:effectLst/>
                <a:uFillTx/>
                <a:latin typeface="Calibri"/>
                <a:ea typeface="Calibri"/>
              </a:rPr>
              <a:t>PWR-BAT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电池包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Battery Pack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7"/>
          <p:cNvSpPr/>
          <p:nvPr/>
        </p:nvSpPr>
        <p:spPr>
          <a:xfrm>
            <a:off x="6208920" y="41972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d19900"/>
                </a:solidFill>
                <a:effectLst/>
                <a:uFillTx/>
                <a:latin typeface="Calibri"/>
                <a:ea typeface="Calibri"/>
              </a:rPr>
              <a:t>PWR-BMS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电池大脑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BMS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8"/>
          <p:cNvSpPr/>
          <p:nvPr/>
        </p:nvSpPr>
        <p:spPr>
          <a:xfrm>
            <a:off x="4389120" y="474588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d19900"/>
                </a:solidFill>
                <a:effectLst/>
                <a:uFillTx/>
                <a:latin typeface="Calibri"/>
                <a:ea typeface="Calibri"/>
              </a:rPr>
              <a:t>PWR-PDU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电力血管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Power Distribution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9"/>
          <p:cNvSpPr/>
          <p:nvPr/>
        </p:nvSpPr>
        <p:spPr>
          <a:xfrm>
            <a:off x="6208920" y="474588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d19900"/>
                </a:solidFill>
                <a:effectLst/>
                <a:uFillTx/>
                <a:latin typeface="Calibri"/>
                <a:ea typeface="Calibri"/>
              </a:rPr>
              <a:t>PWR-CHG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充电换电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Charging &amp; Swap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0"/>
          <p:cNvSpPr/>
          <p:nvPr/>
        </p:nvSpPr>
        <p:spPr>
          <a:xfrm>
            <a:off x="4389120" y="52945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d19900"/>
                </a:solidFill>
                <a:effectLst/>
                <a:uFillTx/>
                <a:latin typeface="Calibri"/>
                <a:ea typeface="Calibri"/>
              </a:rPr>
              <a:t>PWR-PTM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电池温控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Power Thermal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1"/>
          <p:cNvSpPr/>
          <p:nvPr/>
        </p:nvSpPr>
        <p:spPr>
          <a:xfrm>
            <a:off x="6208920" y="52945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d19900"/>
                </a:solidFill>
                <a:effectLst/>
                <a:uFillTx/>
                <a:latin typeface="Calibri"/>
                <a:ea typeface="Calibri"/>
              </a:rPr>
              <a:t>PWR-REC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节能代谢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Energy Recovery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2"/>
          <p:cNvSpPr/>
          <p:nvPr/>
        </p:nvSpPr>
        <p:spPr>
          <a:xfrm>
            <a:off x="8229600" y="3630240"/>
            <a:ext cx="3821760" cy="22399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3"/>
          <p:cNvSpPr/>
          <p:nvPr/>
        </p:nvSpPr>
        <p:spPr>
          <a:xfrm>
            <a:off x="8229600" y="3630240"/>
            <a:ext cx="3821760" cy="502560"/>
          </a:xfrm>
          <a:prstGeom prst="rect">
            <a:avLst/>
          </a:prstGeom>
          <a:solidFill>
            <a:srgbClr val="944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4"/>
          <p:cNvSpPr/>
          <p:nvPr/>
        </p:nvSpPr>
        <p:spPr>
          <a:xfrm>
            <a:off x="8366760" y="367596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SYS  </a:t>
            </a: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系统集成与安全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5"/>
          <p:cNvSpPr/>
          <p:nvPr/>
        </p:nvSpPr>
        <p:spPr>
          <a:xfrm>
            <a:off x="8366760" y="3922920"/>
            <a:ext cx="354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神经网络</a:t>
            </a:r>
            <a:r>
              <a:rPr b="0" i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b="0" i="1" lang="zh-CN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免疫系统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6"/>
          <p:cNvSpPr/>
          <p:nvPr/>
        </p:nvSpPr>
        <p:spPr>
          <a:xfrm>
            <a:off x="8321040" y="41972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944454"/>
                </a:solidFill>
                <a:effectLst/>
                <a:uFillTx/>
                <a:latin typeface="Calibri"/>
                <a:ea typeface="Calibri"/>
              </a:rPr>
              <a:t>SYS-OSM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机器人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OS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Middleware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7"/>
          <p:cNvSpPr/>
          <p:nvPr/>
        </p:nvSpPr>
        <p:spPr>
          <a:xfrm>
            <a:off x="10140840" y="419724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944454"/>
                </a:solidFill>
                <a:effectLst/>
                <a:uFillTx/>
                <a:latin typeface="Calibri"/>
                <a:ea typeface="Calibri"/>
              </a:rPr>
              <a:t>SYS-COM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神经网络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Communication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8"/>
          <p:cNvSpPr/>
          <p:nvPr/>
        </p:nvSpPr>
        <p:spPr>
          <a:xfrm>
            <a:off x="8321040" y="474588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944454"/>
                </a:solidFill>
                <a:effectLst/>
                <a:uFillTx/>
                <a:latin typeface="Calibri"/>
                <a:ea typeface="Calibri"/>
              </a:rPr>
              <a:t>SYS-SAF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免疫系统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Safety &amp; Security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9"/>
          <p:cNvSpPr/>
          <p:nvPr/>
        </p:nvSpPr>
        <p:spPr>
          <a:xfrm>
            <a:off x="10140840" y="474588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944454"/>
                </a:solidFill>
                <a:effectLst/>
                <a:uFillTx/>
                <a:latin typeface="Calibri"/>
                <a:ea typeface="Calibri"/>
              </a:rPr>
              <a:t>SYS-CAL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体检系统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Calibration &amp; Test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0"/>
          <p:cNvSpPr/>
          <p:nvPr/>
        </p:nvSpPr>
        <p:spPr>
          <a:xfrm>
            <a:off x="8321040" y="52945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944454"/>
                </a:solidFill>
                <a:effectLst/>
                <a:uFillTx/>
                <a:latin typeface="Calibri"/>
                <a:ea typeface="Calibri"/>
              </a:rPr>
              <a:t>SYS-MFG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制造系统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MES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1"/>
          <p:cNvSpPr/>
          <p:nvPr/>
        </p:nvSpPr>
        <p:spPr>
          <a:xfrm>
            <a:off x="10140840" y="52945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944454"/>
                </a:solidFill>
                <a:effectLst/>
                <a:uFillTx/>
                <a:latin typeface="Calibri"/>
                <a:ea typeface="Calibri"/>
              </a:rPr>
              <a:t>SYS-CLD</a:t>
            </a:r>
            <a:r>
              <a:rPr b="0" lang="en-US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zh-CN" sz="9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云平台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Fleet Cloud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2"/>
          <p:cNvSpPr/>
          <p:nvPr/>
        </p:nvSpPr>
        <p:spPr>
          <a:xfrm>
            <a:off x="457200" y="589788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5a6f8a"/>
                </a:solidFill>
                <a:effectLst/>
                <a:uFillTx/>
                <a:latin typeface="Calibri"/>
                <a:ea typeface="Calibri"/>
              </a:rPr>
              <a:t>L3–L5 </a:t>
            </a:r>
            <a:r>
              <a:rPr b="0" i="1" lang="zh-CN" sz="1000" strike="noStrike" u="none">
                <a:solidFill>
                  <a:srgbClr val="5a6f8a"/>
                </a:solidFill>
                <a:effectLst/>
                <a:uFillTx/>
                <a:latin typeface="Calibri"/>
                <a:ea typeface="Calibri"/>
              </a:rPr>
              <a:t>为工程化研究框架的证据层 </a:t>
            </a:r>
            <a:r>
              <a:rPr b="0" i="1" lang="en-US" sz="1000" strike="noStrike" u="none">
                <a:solidFill>
                  <a:srgbClr val="5a6f8a"/>
                </a:solidFill>
                <a:effectLst/>
                <a:uFillTx/>
                <a:latin typeface="Calibri"/>
                <a:ea typeface="Calibri"/>
              </a:rPr>
              <a:t>/ BOM </a:t>
            </a:r>
            <a:r>
              <a:rPr b="0" i="1" lang="zh-CN" sz="1000" strike="noStrike" u="none">
                <a:solidFill>
                  <a:srgbClr val="5a6f8a"/>
                </a:solidFill>
                <a:effectLst/>
                <a:uFillTx/>
                <a:latin typeface="Calibri"/>
                <a:ea typeface="Calibri"/>
              </a:rPr>
              <a:t>层，放在附录。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3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来源：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1"/>
              </a:rPr>
              <a:t>NASA SE Handbook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2"/>
              </a:rPr>
              <a:t>ISO/IEC/IEEE 15288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3"/>
              </a:rPr>
              <a:t>IEEE 1872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4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5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7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为什么主图止步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L2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？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客户展示与证据层的分工原则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457200" y="1417320"/>
            <a:ext cx="914040" cy="1005480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457200" y="141732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1508760" y="1417320"/>
            <a:ext cx="10195200" cy="1005480"/>
          </a:xfrm>
          <a:prstGeom prst="roundRect">
            <a:avLst>
              <a:gd name="adj" fmla="val 4545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691640" y="152712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L1 </a:t>
            </a:r>
            <a:r>
              <a:rPr b="1" lang="zh-CN" sz="1500" strike="noStrike" u="none">
                <a:solidFill>
                  <a:srgbClr val="20808d"/>
                </a:solidFill>
                <a:effectLst/>
                <a:uFillTx/>
                <a:latin typeface="Trebuchet MS"/>
                <a:ea typeface="Trebuchet MS"/>
              </a:rPr>
              <a:t>负责世界观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691640" y="19202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感知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决策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执行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本体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能源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系统集成 是六大器官系统，定义了人形机器人的整体叙事框架。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457200" y="2606040"/>
            <a:ext cx="914040" cy="1005480"/>
          </a:xfrm>
          <a:prstGeom prst="roundRect">
            <a:avLst>
              <a:gd name="adj" fmla="val 5000"/>
            </a:avLst>
          </a:prstGeom>
          <a:solidFill>
            <a:srgbClr val="a84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457200" y="260604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1508760" y="2606040"/>
            <a:ext cx="10195200" cy="1005480"/>
          </a:xfrm>
          <a:prstGeom prst="roundRect">
            <a:avLst>
              <a:gd name="adj" fmla="val 4545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1691640" y="271584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a84b2f"/>
                </a:solidFill>
                <a:effectLst/>
                <a:uFillTx/>
                <a:latin typeface="Trebuchet MS"/>
                <a:ea typeface="Trebuchet MS"/>
              </a:rPr>
              <a:t>L2 </a:t>
            </a:r>
            <a:r>
              <a:rPr b="1" lang="zh-CN" sz="1500" strike="noStrike" u="none">
                <a:solidFill>
                  <a:srgbClr val="a84b2f"/>
                </a:solidFill>
                <a:effectLst/>
                <a:uFillTx/>
                <a:latin typeface="Trebuchet MS"/>
                <a:ea typeface="Trebuchet MS"/>
              </a:rPr>
              <a:t>是客户能一眼看懂的功能器官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1691640" y="310896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36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个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L2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模块（旋转关节、灵巧手、电池包、机器人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OS……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）兼顾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CXO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可读性与工程可下钻性。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457200" y="3794760"/>
            <a:ext cx="914040" cy="1005480"/>
          </a:xfrm>
          <a:prstGeom prst="roundRect">
            <a:avLst>
              <a:gd name="adj" fmla="val 5000"/>
            </a:avLst>
          </a:prstGeom>
          <a:solidFill>
            <a:srgbClr val="944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457200" y="379476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1508760" y="3794760"/>
            <a:ext cx="10195200" cy="1005480"/>
          </a:xfrm>
          <a:prstGeom prst="roundRect">
            <a:avLst>
              <a:gd name="adj" fmla="val 4545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1691640" y="390456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944454"/>
                </a:solidFill>
                <a:effectLst/>
                <a:uFillTx/>
                <a:latin typeface="Trebuchet MS"/>
                <a:ea typeface="Trebuchet MS"/>
              </a:rPr>
              <a:t>L3–L5 </a:t>
            </a:r>
            <a:r>
              <a:rPr b="1" lang="zh-CN" sz="1500" strike="noStrike" u="none">
                <a:solidFill>
                  <a:srgbClr val="944454"/>
                </a:solidFill>
                <a:effectLst/>
                <a:uFillTx/>
                <a:latin typeface="Trebuchet MS"/>
                <a:ea typeface="Trebuchet MS"/>
              </a:rPr>
              <a:t>是证据层 </a:t>
            </a:r>
            <a:r>
              <a:rPr b="1" lang="en-US" sz="1500" strike="noStrike" u="none">
                <a:solidFill>
                  <a:srgbClr val="944454"/>
                </a:solidFill>
                <a:effectLst/>
                <a:uFillTx/>
                <a:latin typeface="Trebuchet MS"/>
                <a:ea typeface="Trebuchet MS"/>
              </a:rPr>
              <a:t>/ BOM </a:t>
            </a:r>
            <a:r>
              <a:rPr b="1" lang="zh-CN" sz="1500" strike="noStrike" u="none">
                <a:solidFill>
                  <a:srgbClr val="944454"/>
                </a:solidFill>
                <a:effectLst/>
                <a:uFillTx/>
                <a:latin typeface="Trebuchet MS"/>
                <a:ea typeface="Trebuchet MS"/>
              </a:rPr>
              <a:t>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1691640" y="42976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108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个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L3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336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个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1680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行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L5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用于专家问答、成本拆解、供应链分析与国产化研究。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457200" y="4983480"/>
            <a:ext cx="914040" cy="1005480"/>
          </a:xfrm>
          <a:prstGeom prst="roundRect">
            <a:avLst>
              <a:gd name="adj" fmla="val 5000"/>
            </a:avLst>
          </a:prstGeom>
          <a:solidFill>
            <a:srgbClr val="1b47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457200" y="498348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1508760" y="4983480"/>
            <a:ext cx="10195200" cy="1005480"/>
          </a:xfrm>
          <a:prstGeom prst="roundRect">
            <a:avLst>
              <a:gd name="adj" fmla="val 4545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1691640" y="509328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trike="noStrike" u="none">
                <a:solidFill>
                  <a:srgbClr val="1b474d"/>
                </a:solidFill>
                <a:effectLst/>
                <a:uFillTx/>
                <a:latin typeface="Trebuchet MS"/>
                <a:ea typeface="Trebuchet MS"/>
              </a:rPr>
              <a:t>把 </a:t>
            </a:r>
            <a:r>
              <a:rPr b="1" lang="en-US" sz="1500" strike="noStrike" u="none">
                <a:solidFill>
                  <a:srgbClr val="1b474d"/>
                </a:solidFill>
                <a:effectLst/>
                <a:uFillTx/>
                <a:latin typeface="Trebuchet MS"/>
                <a:ea typeface="Trebuchet MS"/>
              </a:rPr>
              <a:t>L3–L5 </a:t>
            </a:r>
            <a:r>
              <a:rPr b="1" lang="zh-CN" sz="1500" strike="noStrike" u="none">
                <a:solidFill>
                  <a:srgbClr val="1b474d"/>
                </a:solidFill>
                <a:effectLst/>
                <a:uFillTx/>
                <a:latin typeface="Trebuchet MS"/>
                <a:ea typeface="Trebuchet MS"/>
              </a:rPr>
              <a:t>放进主图会变成零件清单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1691640" y="548640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主图被零件淹没将削弱系统 </a:t>
            </a:r>
            <a:r>
              <a:rPr b="0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CT </a:t>
            </a:r>
            <a:r>
              <a:rPr b="0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叙事；客户先看见整机，然后按需下钻附录证据层。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2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3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8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示例：旋转关节从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CT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模块到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BOM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粒度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L2 → L5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工程化研究树（高扭矩关节支线）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365760" y="1280160"/>
            <a:ext cx="7680600" cy="507456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548640" y="141732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L0  </a:t>
            </a:r>
            <a:r>
              <a:rPr b="1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HUM  </a:t>
            </a:r>
            <a:r>
              <a:rPr b="1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人形机器人整机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703800" y="185616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868680" y="174636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a84b2f"/>
                </a:solidFill>
                <a:effectLst/>
                <a:uFillTx/>
                <a:latin typeface="Consolas"/>
                <a:ea typeface="Consolas"/>
              </a:rPr>
              <a:t>L1  </a:t>
            </a:r>
            <a:r>
              <a:rPr b="1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HUM-ACT  </a:t>
            </a:r>
            <a:r>
              <a:rPr b="1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执行系统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1023840" y="218520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1188720" y="207576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a84b2f"/>
                </a:solidFill>
                <a:effectLst/>
                <a:uFillTx/>
                <a:latin typeface="Consolas"/>
                <a:ea typeface="Consolas"/>
              </a:rPr>
              <a:t>L2  </a:t>
            </a:r>
            <a:r>
              <a:rPr b="1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HUM-ACT-ROT  </a:t>
            </a:r>
            <a:r>
              <a:rPr b="1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旋转关节执行器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1343880" y="251460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1508760" y="240480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L3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L301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高扭矩旋转关节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1663920" y="284364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1828800" y="273420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L401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无框力矩电机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2"/>
          <p:cNvSpPr/>
          <p:nvPr/>
        </p:nvSpPr>
        <p:spPr>
          <a:xfrm>
            <a:off x="1983960" y="317268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2148840" y="306324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定子铁芯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绕组绝缘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永磁转子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磁钢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温度传感器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引出线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1663920" y="350208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1828800" y="339228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L402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减速器（柔轮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刚轮 或 行星齿轮组）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1983960" y="383112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2148840" y="372168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波发生器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齿轮组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输入轴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输出法兰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交叉滚子轴承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润滑脂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密封圈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8"/>
          <p:cNvSpPr/>
          <p:nvPr/>
        </p:nvSpPr>
        <p:spPr>
          <a:xfrm>
            <a:off x="1663920" y="416052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1828800" y="405072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L403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双编码器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位置反馈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1983960" y="448956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2148840" y="438012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电机端编码器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输出端编码器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磁环码盘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读头芯片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零位标定数据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2"/>
          <p:cNvSpPr/>
          <p:nvPr/>
        </p:nvSpPr>
        <p:spPr>
          <a:xfrm>
            <a:off x="1663920" y="481860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1828800" y="470916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L404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关节驱动器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4"/>
          <p:cNvSpPr/>
          <p:nvPr/>
        </p:nvSpPr>
        <p:spPr>
          <a:xfrm>
            <a:off x="1983960" y="514800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2148840" y="503820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MOSFET/IGBT  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栅极驱动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MCU  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电流采样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DC-Link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电容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6"/>
          <p:cNvSpPr/>
          <p:nvPr/>
        </p:nvSpPr>
        <p:spPr>
          <a:xfrm>
            <a:off x="1663920" y="547704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7"/>
          <p:cNvSpPr/>
          <p:nvPr/>
        </p:nvSpPr>
        <p:spPr>
          <a:xfrm>
            <a:off x="1828800" y="536760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结构与安全件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8"/>
          <p:cNvSpPr/>
          <p:nvPr/>
        </p:nvSpPr>
        <p:spPr>
          <a:xfrm>
            <a:off x="1983960" y="580644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9"/>
          <p:cNvSpPr/>
          <p:nvPr/>
        </p:nvSpPr>
        <p:spPr>
          <a:xfrm>
            <a:off x="2148840" y="569664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关节壳体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输出法兰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制动摩擦片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限位块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防尘密封件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0"/>
          <p:cNvSpPr/>
          <p:nvPr/>
        </p:nvSpPr>
        <p:spPr>
          <a:xfrm>
            <a:off x="8229600" y="1280160"/>
            <a:ext cx="3611520" cy="5074560"/>
          </a:xfrm>
          <a:prstGeom prst="roundRect">
            <a:avLst>
              <a:gd name="adj" fmla="val 1266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1"/>
          <p:cNvSpPr/>
          <p:nvPr/>
        </p:nvSpPr>
        <p:spPr>
          <a:xfrm>
            <a:off x="8412480" y="14173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a84b2f"/>
                </a:solidFill>
                <a:effectLst/>
                <a:uFillTx/>
                <a:latin typeface="Trebuchet MS"/>
                <a:ea typeface="Trebuchet MS"/>
              </a:rPr>
              <a:t>要点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2"/>
          <p:cNvSpPr/>
          <p:nvPr/>
        </p:nvSpPr>
        <p:spPr>
          <a:xfrm>
            <a:off x="8412480" y="182880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L2 → L5 </a:t>
            </a: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完整下钻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3"/>
          <p:cNvSpPr/>
          <p:nvPr/>
        </p:nvSpPr>
        <p:spPr>
          <a:xfrm>
            <a:off x="8412480" y="212148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一个旋转关节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L2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可以稳定下钻到电机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减速器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编码器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驱动器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结构件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5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个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L4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核心模块。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4"/>
          <p:cNvSpPr/>
          <p:nvPr/>
        </p:nvSpPr>
        <p:spPr>
          <a:xfrm>
            <a:off x="8412480" y="32918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每个 </a:t>
            </a:r>
            <a:r>
              <a:rPr b="1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 </a:t>
            </a: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落到 </a:t>
            </a:r>
            <a:r>
              <a:rPr b="1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5 </a:t>
            </a: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个 </a:t>
            </a:r>
            <a:r>
              <a:rPr b="1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L5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5"/>
          <p:cNvSpPr/>
          <p:nvPr/>
        </p:nvSpPr>
        <p:spPr>
          <a:xfrm>
            <a:off x="8412480" y="358452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用于支撑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BOM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颗粒度的成本估算、供应链替代分析、国产化映射。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6"/>
          <p:cNvSpPr/>
          <p:nvPr/>
        </p:nvSpPr>
        <p:spPr>
          <a:xfrm>
            <a:off x="8412480" y="47548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专家问答的最小知识单元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7"/>
          <p:cNvSpPr/>
          <p:nvPr/>
        </p:nvSpPr>
        <p:spPr>
          <a:xfrm>
            <a:off x="8412480" y="504756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L5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子部件清单是技术深聊的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命题层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，比如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无框电机的磁钢用钕铁硼还是钐钴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8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本树为工程化研究框架，不代表任何 </a:t>
            </a:r>
            <a:r>
              <a:rPr b="0" i="1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i="1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完整量产 </a:t>
            </a:r>
            <a:r>
              <a:rPr b="0" i="1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BOM</a:t>
            </a:r>
            <a:r>
              <a:rPr b="0" i="1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。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9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0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9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示例：灵巧手从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CT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模块到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BOM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粒度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L2 → L5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工程化研究树（执行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力觉感知复合模块）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365760" y="1280160"/>
            <a:ext cx="7680600" cy="507456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548640" y="146304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L0  </a:t>
            </a:r>
            <a:r>
              <a:rPr b="1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HUM  </a:t>
            </a:r>
            <a:r>
              <a:rPr b="1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人形机器人整机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"/>
          <p:cNvSpPr/>
          <p:nvPr/>
        </p:nvSpPr>
        <p:spPr>
          <a:xfrm>
            <a:off x="703800" y="193824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868680" y="182880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a84b2f"/>
                </a:solidFill>
                <a:effectLst/>
                <a:uFillTx/>
                <a:latin typeface="Consolas"/>
                <a:ea typeface="Consolas"/>
              </a:rPr>
              <a:t>L1  </a:t>
            </a:r>
            <a:r>
              <a:rPr b="1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HUM-ACT  </a:t>
            </a:r>
            <a:r>
              <a:rPr b="1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执行系统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6"/>
          <p:cNvSpPr/>
          <p:nvPr/>
        </p:nvSpPr>
        <p:spPr>
          <a:xfrm>
            <a:off x="1023840" y="230400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1188720" y="219456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a84b2f"/>
                </a:solidFill>
                <a:effectLst/>
                <a:uFillTx/>
                <a:latin typeface="Consolas"/>
                <a:ea typeface="Consolas"/>
              </a:rPr>
              <a:t>L2  </a:t>
            </a:r>
            <a:r>
              <a:rPr b="1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HUM-ACT-HAND  </a:t>
            </a:r>
            <a:r>
              <a:rPr b="1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灵巧手与末端执行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1343880" y="266976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1508760" y="256032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L3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L301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手掌基座模组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1663920" y="303552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1828800" y="292608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L401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微型电机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2"/>
          <p:cNvSpPr/>
          <p:nvPr/>
        </p:nvSpPr>
        <p:spPr>
          <a:xfrm>
            <a:off x="1983960" y="340128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2148840" y="329184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定子绕组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转子磁钢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轴承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端盖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柔性引线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4"/>
          <p:cNvSpPr/>
          <p:nvPr/>
        </p:nvSpPr>
        <p:spPr>
          <a:xfrm>
            <a:off x="1663920" y="376704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1828800" y="365760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L402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微型减速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传动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6"/>
          <p:cNvSpPr/>
          <p:nvPr/>
        </p:nvSpPr>
        <p:spPr>
          <a:xfrm>
            <a:off x="1983960" y="413280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2148840" y="402336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齿轮组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蜗轮蜗杆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丝杠螺母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齿轮轴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轴承衬套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润滑脂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8"/>
          <p:cNvSpPr/>
          <p:nvPr/>
        </p:nvSpPr>
        <p:spPr>
          <a:xfrm>
            <a:off x="1663920" y="449856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9"/>
          <p:cNvSpPr/>
          <p:nvPr/>
        </p:nvSpPr>
        <p:spPr>
          <a:xfrm>
            <a:off x="1828800" y="438912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L403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腱绳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连杆机构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0"/>
          <p:cNvSpPr/>
          <p:nvPr/>
        </p:nvSpPr>
        <p:spPr>
          <a:xfrm>
            <a:off x="1983960" y="486432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2148840" y="475488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腱绳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钢丝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芳纶绳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滑轮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导向轮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锚点张紧器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指节连杆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回位弹簧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2"/>
          <p:cNvSpPr/>
          <p:nvPr/>
        </p:nvSpPr>
        <p:spPr>
          <a:xfrm>
            <a:off x="1663920" y="523008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3"/>
          <p:cNvSpPr/>
          <p:nvPr/>
        </p:nvSpPr>
        <p:spPr>
          <a:xfrm>
            <a:off x="1828800" y="512064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7a7974"/>
                </a:solidFill>
                <a:effectLst/>
                <a:uFillTx/>
                <a:latin typeface="Consolas"/>
                <a:ea typeface="Consolas"/>
              </a:rPr>
              <a:t>L4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L404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触觉指尖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4"/>
          <p:cNvSpPr/>
          <p:nvPr/>
        </p:nvSpPr>
        <p:spPr>
          <a:xfrm>
            <a:off x="1983960" y="5595840"/>
            <a:ext cx="146520" cy="360"/>
          </a:xfrm>
          <a:prstGeom prst="line">
            <a:avLst/>
          </a:prstGeom>
          <a:ln w="7620">
            <a:solidFill>
              <a:srgbClr val="bab9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2148840" y="548640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20808d"/>
                </a:solidFill>
                <a:effectLst/>
                <a:uFillTx/>
                <a:latin typeface="Consolas"/>
                <a:ea typeface="Consolas"/>
              </a:rPr>
              <a:t>L5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柔性包覆层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压力敏感单元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电极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导电层  </a:t>
            </a:r>
            <a:r>
              <a:rPr b="0" lang="en-US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·  AFE  ·  FPC/</a:t>
            </a:r>
            <a:r>
              <a:rPr b="0" lang="zh-CN" sz="100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连接器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6"/>
          <p:cNvSpPr/>
          <p:nvPr/>
        </p:nvSpPr>
        <p:spPr>
          <a:xfrm>
            <a:off x="8229600" y="1280160"/>
            <a:ext cx="3611520" cy="5074560"/>
          </a:xfrm>
          <a:prstGeom prst="roundRect">
            <a:avLst>
              <a:gd name="adj" fmla="val 1266"/>
            </a:avLst>
          </a:prstGeom>
          <a:solidFill>
            <a:srgbClr val="f9f8f5"/>
          </a:solidFill>
          <a:ln w="63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7"/>
          <p:cNvSpPr/>
          <p:nvPr/>
        </p:nvSpPr>
        <p:spPr>
          <a:xfrm>
            <a:off x="8412480" y="14173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a84b2f"/>
                </a:solidFill>
                <a:effectLst/>
                <a:uFillTx/>
                <a:latin typeface="Trebuchet MS"/>
                <a:ea typeface="Trebuchet MS"/>
              </a:rPr>
              <a:t>要点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8"/>
          <p:cNvSpPr/>
          <p:nvPr/>
        </p:nvSpPr>
        <p:spPr>
          <a:xfrm>
            <a:off x="8412480" y="182880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执行 </a:t>
            </a:r>
            <a:r>
              <a:rPr b="1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力觉的典型复合模块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9"/>
          <p:cNvSpPr/>
          <p:nvPr/>
        </p:nvSpPr>
        <p:spPr>
          <a:xfrm>
            <a:off x="8412480" y="212148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灵巧手同时承担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ACT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执行（电机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传动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腱绳）与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PER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感知（触觉指尖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/AFE/FPC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），是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跨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L1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协同的最佳示例。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0"/>
          <p:cNvSpPr/>
          <p:nvPr/>
        </p:nvSpPr>
        <p:spPr>
          <a:xfrm>
            <a:off x="8412480" y="32918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BOM </a:t>
            </a: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粒度极细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1"/>
          <p:cNvSpPr/>
          <p:nvPr/>
        </p:nvSpPr>
        <p:spPr>
          <a:xfrm>
            <a:off x="8412480" y="358452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从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AFE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FPC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到芳纶绳、压力敏感单元，全部可拆到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SKU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级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L5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，是供应链替代分析的高密度战场。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2"/>
          <p:cNvSpPr/>
          <p:nvPr/>
        </p:nvSpPr>
        <p:spPr>
          <a:xfrm>
            <a:off x="8412480" y="47548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trike="noStrike" u="none">
                <a:solidFill>
                  <a:srgbClr val="28251d"/>
                </a:solidFill>
                <a:effectLst/>
                <a:uFillTx/>
                <a:latin typeface="Calibri"/>
                <a:ea typeface="Calibri"/>
              </a:rPr>
              <a:t>客户决策意义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3"/>
          <p:cNvSpPr/>
          <p:nvPr/>
        </p:nvSpPr>
        <p:spPr>
          <a:xfrm>
            <a:off x="8412480" y="504756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灵巧手是当前人形机器人 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BOM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中竞争最激烈的子系统之一，</a:t>
            </a:r>
            <a:r>
              <a:rPr b="0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粒度直接对应技术路线和投资判断。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4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本树为工程化研究框架，不代表任何 </a:t>
            </a:r>
            <a:r>
              <a:rPr b="0" i="1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i="1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完整量产 </a:t>
            </a:r>
            <a:r>
              <a:rPr b="0" i="1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BOM</a:t>
            </a:r>
            <a:r>
              <a:rPr b="0" i="1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。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5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6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10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六大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L1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如何对应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Tesla / Figure / Atlas </a:t>
            </a: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等 </a:t>
            </a:r>
            <a:r>
              <a:rPr b="1" lang="en-US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OEM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跨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统一坐标系，不是 </a:t>
            </a:r>
            <a:r>
              <a:rPr b="0" i="1" lang="en-US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官方分类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457200" y="107892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i="1" lang="zh-CN" sz="11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不会按我们的 </a:t>
            </a:r>
            <a:r>
              <a:rPr b="0" i="1" lang="en-US" sz="11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L0–L5 </a:t>
            </a:r>
            <a:r>
              <a:rPr b="0" i="1" lang="zh-CN" sz="11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命名，但公开披露的模块可以稳定映射到六大 </a:t>
            </a:r>
            <a:r>
              <a:rPr b="0" i="1" lang="en-US" sz="11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L1</a:t>
            </a:r>
            <a:r>
              <a:rPr b="0" i="1" lang="zh-CN" sz="110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。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Table 0"/>
          <p:cNvGraphicFramePr/>
          <p:nvPr/>
        </p:nvGraphicFramePr>
        <p:xfrm>
          <a:off x="365760" y="1508760"/>
          <a:ext cx="11475360" cy="4608360"/>
        </p:xfrm>
        <a:graphic>
          <a:graphicData uri="http://schemas.openxmlformats.org/drawingml/2006/table">
            <a:tbl>
              <a:tblPr/>
              <a:tblGrid>
                <a:gridCol w="1325880"/>
                <a:gridCol w="1691640"/>
                <a:gridCol w="1691640"/>
                <a:gridCol w="1691640"/>
                <a:gridCol w="1691640"/>
                <a:gridCol w="1691640"/>
                <a:gridCol w="1691640"/>
              </a:tblGrid>
              <a:tr h="658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L1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Tesla Optimus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Figure 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Boston Dynamics Atlas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Unitree G1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XPeng IRON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CAICT </a:t>
                      </a:r>
                      <a:r>
                        <a:rPr b="1" lang="zh-CN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信通院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 </a:t>
                      </a:r>
                      <a:r>
                        <a:rPr b="1" lang="zh-CN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感知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Perception / CV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Sensory suite, palm cam, tactile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Tactile fingers, 360° cam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Sensors / perception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Vision +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柔性皮肤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感知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环境感知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 </a:t>
                      </a:r>
                      <a:r>
                        <a:rPr b="1" lang="zh-CN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决策控制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1b474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Motion plan / inference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Helix VLA AI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Autonomy / operating modes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World model /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模仿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RL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Physical world model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大脑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小脑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决策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 </a:t>
                      </a:r>
                      <a:r>
                        <a:rPr b="1" lang="zh-CN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执行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a84b2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Controls / physical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Hand system, actuators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DoF, dexterous manipulation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23–43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关节电机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,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灵巧手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仿生肌肉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, 22DoF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手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肢体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行动执行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BOD </a:t>
                      </a:r>
                      <a:r>
                        <a:rPr b="1" lang="zh-CN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本体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6e52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Mechanical eng.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Structures, soft goods, foam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Modular IP-rated body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Humanoid body form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仿人骨骼 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柔性皮肤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本体 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机器人身体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PWR </a:t>
                      </a:r>
                      <a:r>
                        <a:rPr b="1" lang="zh-CN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能源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d199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推断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 robot HW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层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Battery, BMS, wireless charge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Battery / autonomous swap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Battery in dev docs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电池 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续航主张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能源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结构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感知一体化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9f8f5"/>
                    </a:solidFill>
                  </a:tcPr>
                </a:tc>
              </a:tr>
              <a:tr h="658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 </a:t>
                      </a:r>
                      <a:r>
                        <a:rPr b="1" lang="zh-CN" sz="9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系统集成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9444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Software / deployment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BotQ MES, traceability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Orbit / MES / WMS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Developer SDK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AI / 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类车软件集成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操作系统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仿真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数据</a:t>
                      </a:r>
                      <a:r>
                        <a:rPr b="0" lang="en-US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b="0" lang="zh-CN" sz="900" strike="noStrike" u="none">
                          <a:solidFill>
                            <a:srgbClr val="28251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安全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4d1ca"/>
                      </a:solidFill>
                      <a:prstDash val="solid"/>
                    </a:lnL>
                    <a:lnR w="6480">
                      <a:solidFill>
                        <a:srgbClr val="d4d1ca"/>
                      </a:solidFill>
                      <a:prstDash val="solid"/>
                    </a:lnR>
                    <a:lnT w="6480">
                      <a:solidFill>
                        <a:srgbClr val="d4d1ca"/>
                      </a:solidFill>
                      <a:prstDash val="solid"/>
                    </a:lnT>
                    <a:lnB w="6480">
                      <a:solidFill>
                        <a:srgbClr val="d4d1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2" name="Text 3"/>
          <p:cNvSpPr/>
          <p:nvPr/>
        </p:nvSpPr>
        <p:spPr>
          <a:xfrm>
            <a:off x="457200" y="614484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来源：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1"/>
              </a:rPr>
              <a:t>Tesla AI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2"/>
              </a:rPr>
              <a:t>Figure 03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3"/>
              </a:rPr>
              <a:t>Atlas Spec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4"/>
              </a:rPr>
              <a:t>Unitree G1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5"/>
              </a:rPr>
              <a:t>XPeng IRON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b="0" lang="en-US" sz="900" strike="noStrike" u="sng">
                <a:solidFill>
                  <a:srgbClr val="7a7974"/>
                </a:solidFill>
                <a:effectLst/>
                <a:uFillTx/>
                <a:latin typeface="Calibri"/>
                <a:ea typeface="Calibri"/>
                <a:hlinkClick r:id="rId6"/>
              </a:rPr>
              <a:t>X-Humanoid 信通院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11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457200" y="32004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1b3a5c"/>
                </a:solidFill>
                <a:effectLst/>
                <a:uFillTx/>
                <a:latin typeface="Trebuchet MS"/>
                <a:ea typeface="Trebuchet MS"/>
              </a:rPr>
              <a:t>方法论与数据来源（节选）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457200" y="84132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2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所有来源来自公开材料；动态渲染页面已标记需浏览器复核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457200" y="1325880"/>
            <a:ext cx="2468520" cy="411120"/>
          </a:xfrm>
          <a:prstGeom prst="roundRect">
            <a:avLst>
              <a:gd name="adj" fmla="val 11111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457200" y="132588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标准与方法论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548640" y="182880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1"/>
              </a:rPr>
              <a:t>NASA Systems Engineering Handbook — PBS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NASA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548640" y="213984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2"/>
              </a:rPr>
              <a:t>ISO/IEC/IEEE 15288:2023 系统生命周期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ISO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548640" y="24505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3"/>
              </a:rPr>
              <a:t>IEEE 1872-2015 机器人本体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IEEE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457200" y="2898720"/>
            <a:ext cx="2468520" cy="411120"/>
          </a:xfrm>
          <a:prstGeom prst="roundRect">
            <a:avLst>
              <a:gd name="adj" fmla="val 11111"/>
            </a:avLst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457200" y="289872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学术课程与论文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548640" y="340164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4"/>
              </a:rPr>
              <a:t>MIT 6.4210 Robotic Manipulation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MIT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548640" y="37123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5"/>
              </a:rPr>
              <a:t>Stanford CS223A Intro to Robotics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Stanford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548640" y="402336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6"/>
              </a:rPr>
              <a:t>MIT Cog: Humanoid Robots A New Tool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MIT AI Lab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548640" y="433440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0808d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7"/>
              </a:rPr>
              <a:t>NASA Valkyrie Humanoid 工程论文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NASA / UT Austin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457200" y="4782240"/>
            <a:ext cx="2468520" cy="411120"/>
          </a:xfrm>
          <a:prstGeom prst="roundRect">
            <a:avLst>
              <a:gd name="adj" fmla="val 11111"/>
            </a:avLst>
          </a:prstGeom>
          <a:solidFill>
            <a:srgbClr val="a84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457200" y="47822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OEM </a:t>
            </a:r>
            <a:r>
              <a:rPr b="1" lang="zh-CN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官方与中文产业研究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548640" y="528516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8"/>
              </a:rPr>
              <a:t>Tesla AI &amp; Robotics — Optimus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Tesla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6"/>
          <p:cNvSpPr/>
          <p:nvPr/>
        </p:nvSpPr>
        <p:spPr>
          <a:xfrm>
            <a:off x="548640" y="559620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9"/>
              </a:rPr>
              <a:t>Figure 03 product introduction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Figure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548640" y="590688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en-US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10"/>
              </a:rPr>
              <a:t>Atlas Spec Sheet（PDF）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Boston Dynamics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548640" y="62179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a84b2f"/>
                </a:solidFill>
                <a:effectLst/>
                <a:uFillTx/>
                <a:latin typeface="Calibri"/>
                <a:ea typeface="Calibri"/>
              </a:rPr>
              <a:t>◆ </a:t>
            </a:r>
            <a:r>
              <a:rPr b="1" lang="zh-CN" sz="1050" strike="noStrike" u="sng">
                <a:solidFill>
                  <a:srgbClr val="1b3a5c"/>
                </a:solidFill>
                <a:effectLst/>
                <a:uFillTx/>
                <a:latin typeface="Calibri"/>
                <a:ea typeface="Calibri"/>
                <a:hlinkClick r:id="rId11"/>
              </a:rPr>
              <a:t>具身智能产业发展报告 2024</a:t>
            </a:r>
            <a:r>
              <a:rPr b="0" i="1" lang="en-US" sz="105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   国家地方共建创新中心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9"/>
          <p:cNvSpPr/>
          <p:nvPr/>
        </p:nvSpPr>
        <p:spPr>
          <a:xfrm>
            <a:off x="36576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人形机器人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CT-BOM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框架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v0.5  · 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本框架为跨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统一坐标系，不声称任何 </a:t>
            </a: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官方采用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0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a7974"/>
                </a:solidFill>
                <a:effectLst/>
                <a:uFillTx/>
                <a:latin typeface="Calibri"/>
                <a:ea typeface="Calibri"/>
              </a:rPr>
              <a:t>12 / 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457200" y="4572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在 </a:t>
            </a: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CT-BOM </a:t>
            </a: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框架上，下一步我们要做什么？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457200" y="105156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400" strike="noStrike" u="none">
                <a:solidFill>
                  <a:srgbClr val="b8c8dc"/>
                </a:solidFill>
                <a:effectLst/>
                <a:uFillTx/>
                <a:latin typeface="Calibri"/>
                <a:ea typeface="Calibri"/>
              </a:rPr>
              <a:t>从研究框架到工程化推进 — 客户视角与内部视角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"/>
          <p:cNvSpPr/>
          <p:nvPr/>
        </p:nvSpPr>
        <p:spPr>
          <a:xfrm>
            <a:off x="457200" y="1691640"/>
            <a:ext cx="5403600" cy="4297320"/>
          </a:xfrm>
          <a:prstGeom prst="roundRect">
            <a:avLst>
              <a:gd name="adj" fmla="val 1702"/>
            </a:avLst>
          </a:prstGeom>
          <a:solidFill>
            <a:srgbClr val="23456e"/>
          </a:solidFill>
          <a:ln w="6350">
            <a:solidFill>
              <a:srgbClr val="3a59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731520" y="1874520"/>
            <a:ext cx="2468520" cy="411120"/>
          </a:xfrm>
          <a:prstGeom prst="roundRect">
            <a:avLst>
              <a:gd name="adj" fmla="val 11111"/>
            </a:avLst>
          </a:prstGeom>
          <a:solidFill>
            <a:srgbClr val="208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731520" y="187452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面向客户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731520" y="24688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对齐既有架构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731520" y="283464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用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L1 / L2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框架对齐贵司现有研发组织、产品架构与空白模块。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731520" y="36576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关键 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L2 </a:t>
            </a: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共建路线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9"/>
          <p:cNvSpPr/>
          <p:nvPr/>
        </p:nvSpPr>
        <p:spPr>
          <a:xfrm>
            <a:off x="731520" y="40233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针对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ACT-ROT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ACT-HAND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PWR-BAT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、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SYS-OSM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等关键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L2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，共同规划技术路线与供应链布局。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731520" y="48463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CT </a:t>
            </a: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报告交付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731520" y="521208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形成可直接对外发布的整机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CT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报告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关键模块技术对标。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2"/>
          <p:cNvSpPr/>
          <p:nvPr/>
        </p:nvSpPr>
        <p:spPr>
          <a:xfrm>
            <a:off x="6327720" y="1691640"/>
            <a:ext cx="5403600" cy="4297320"/>
          </a:xfrm>
          <a:prstGeom prst="roundRect">
            <a:avLst>
              <a:gd name="adj" fmla="val 1702"/>
            </a:avLst>
          </a:prstGeom>
          <a:solidFill>
            <a:srgbClr val="23456e"/>
          </a:solidFill>
          <a:ln w="6350">
            <a:solidFill>
              <a:srgbClr val="3a59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3"/>
          <p:cNvSpPr/>
          <p:nvPr/>
        </p:nvSpPr>
        <p:spPr>
          <a:xfrm>
            <a:off x="6602040" y="1874520"/>
            <a:ext cx="2468520" cy="411120"/>
          </a:xfrm>
          <a:prstGeom prst="roundRect">
            <a:avLst>
              <a:gd name="adj" fmla="val 11111"/>
            </a:avLst>
          </a:prstGeom>
          <a:solidFill>
            <a:srgbClr val="d1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4"/>
          <p:cNvSpPr/>
          <p:nvPr/>
        </p:nvSpPr>
        <p:spPr>
          <a:xfrm>
            <a:off x="6602040" y="187452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面向内部 </a:t>
            </a: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/ </a:t>
            </a:r>
            <a:r>
              <a:rPr b="1" lang="zh-CN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投资人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6602040" y="24688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CT</a:t>
            </a: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＋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BOM</a:t>
            </a: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＋供应链数据库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6602040" y="283464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在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L4 / L5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粒度叠加供应商、成本、国产化标签，形成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CT + BOM +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供应链 研究底座。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6602040" y="36576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技术路线对比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8"/>
          <p:cNvSpPr/>
          <p:nvPr/>
        </p:nvSpPr>
        <p:spPr>
          <a:xfrm>
            <a:off x="6602040" y="40233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按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L2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模块维度，横向对比各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OEM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技术路线、专利与投资热点。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9"/>
          <p:cNvSpPr/>
          <p:nvPr/>
        </p:nvSpPr>
        <p:spPr>
          <a:xfrm>
            <a:off x="6602040" y="48463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投资命题落点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6602040" y="521208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从 </a:t>
            </a:r>
            <a:r>
              <a:rPr b="0" lang="en-US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L4 / L5 </a:t>
            </a:r>
            <a:r>
              <a:rPr b="0" lang="zh-CN" sz="11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子部件维度筛选具备替代窗口、估值合理的投资标的。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457200" y="612648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谢谢  </a:t>
            </a: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·  Q&amp;A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11338560" y="64738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d8e4f2"/>
                </a:solidFill>
                <a:effectLst/>
                <a:uFillTx/>
                <a:latin typeface="Calibri"/>
                <a:ea typeface="Calibri"/>
              </a:rPr>
              <a:t>13 / 13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2026-05-08T08:02:55Z</dcterms:created>
  <dc:creator>PptxGenJS</dc:creator>
  <dc:description/>
  <dc:language>en-US</dc:language>
  <cp:lastModifiedBy>PptxGenJS</cp:lastModifiedBy>
  <dcterms:modified xsi:type="dcterms:W3CDTF">2026-05-08T08:02:55Z</dcterms:modified>
  <cp:revision>1</cp:revision>
  <dc:subject>PptxGenJS Presentation</dc:subject>
  <dc:title>人形机器人 CT-BOM 框架 v0.5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